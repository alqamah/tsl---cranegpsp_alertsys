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6858000" cx="12192000"/>
  <p:notesSz cx="6858000" cy="9144000"/>
  <p:embeddedFontLst>
    <p:embeddedFont>
      <p:font typeface="Roboto Slab"/>
      <p:regular r:id="rId17"/>
      <p:bold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Urbanist Medium"/>
      <p:regular r:id="rId31"/>
      <p:bold r:id="rId32"/>
      <p:italic r:id="rId33"/>
      <p:boldItalic r:id="rId34"/>
    </p:embeddedFont>
    <p:embeddedFont>
      <p:font typeface="Urbanis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5E5FBA-4DDE-4991-9BC7-8358B63316FE}">
  <a:tblStyle styleId="{825E5FBA-4DDE-4991-9BC7-8358B63316F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nter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4.xml"/><Relationship Id="rId33" Type="http://schemas.openxmlformats.org/officeDocument/2006/relationships/font" Target="fonts/UrbanistMedium-italic.fntdata"/><Relationship Id="rId10" Type="http://schemas.openxmlformats.org/officeDocument/2006/relationships/slide" Target="slides/slide3.xml"/><Relationship Id="rId32" Type="http://schemas.openxmlformats.org/officeDocument/2006/relationships/font" Target="fonts/UrbanistMedium-bold.fntdata"/><Relationship Id="rId13" Type="http://schemas.openxmlformats.org/officeDocument/2006/relationships/slide" Target="slides/slide6.xml"/><Relationship Id="rId35" Type="http://schemas.openxmlformats.org/officeDocument/2006/relationships/font" Target="fonts/Urbanist-regular.fntdata"/><Relationship Id="rId12" Type="http://schemas.openxmlformats.org/officeDocument/2006/relationships/slide" Target="slides/slide5.xml"/><Relationship Id="rId34" Type="http://schemas.openxmlformats.org/officeDocument/2006/relationships/font" Target="fonts/UrbanistMedium-boldItalic.fntdata"/><Relationship Id="rId15" Type="http://schemas.openxmlformats.org/officeDocument/2006/relationships/slide" Target="slides/slide8.xml"/><Relationship Id="rId37" Type="http://schemas.openxmlformats.org/officeDocument/2006/relationships/font" Target="fonts/Urbanist-italic.fntdata"/><Relationship Id="rId14" Type="http://schemas.openxmlformats.org/officeDocument/2006/relationships/slide" Target="slides/slide7.xml"/><Relationship Id="rId36" Type="http://schemas.openxmlformats.org/officeDocument/2006/relationships/font" Target="fonts/Urbanist-bold.fntdata"/><Relationship Id="rId17" Type="http://schemas.openxmlformats.org/officeDocument/2006/relationships/font" Target="fonts/RobotoSlab-regular.fntdata"/><Relationship Id="rId16" Type="http://schemas.openxmlformats.org/officeDocument/2006/relationships/slide" Target="slides/slide9.xml"/><Relationship Id="rId38" Type="http://schemas.openxmlformats.org/officeDocument/2006/relationships/font" Target="fonts/Urbanist-boldItalic.fntdata"/><Relationship Id="rId19" Type="http://schemas.openxmlformats.org/officeDocument/2006/relationships/font" Target="fonts/Roboto-regular.fntdata"/><Relationship Id="rId18" Type="http://schemas.openxmlformats.org/officeDocument/2006/relationships/font" Target="fonts/RobotoSlab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de0398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6de03980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6de03980d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6de03980d_0_3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2033067" y="896808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6" name="Google Shape;86;p14"/>
          <p:cNvSpPr/>
          <p:nvPr/>
        </p:nvSpPr>
        <p:spPr>
          <a:xfrm rot="10800000">
            <a:off x="8716786" y="4457271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87" name="Google Shape;87;p14"/>
          <p:cNvCxnSpPr/>
          <p:nvPr/>
        </p:nvCxnSpPr>
        <p:spPr>
          <a:xfrm>
            <a:off x="5812802" y="375661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4"/>
          <p:cNvSpPr txBox="1"/>
          <p:nvPr>
            <p:ph type="ctrTitle"/>
          </p:nvPr>
        </p:nvSpPr>
        <p:spPr>
          <a:xfrm>
            <a:off x="2240402" y="1585234"/>
            <a:ext cx="7711200" cy="1943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240402" y="4065933"/>
            <a:ext cx="7711200" cy="121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5"/>
          <p:cNvCxnSpPr/>
          <p:nvPr/>
        </p:nvCxnSpPr>
        <p:spPr>
          <a:xfrm>
            <a:off x="5812802" y="375661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5"/>
          <p:cNvSpPr txBox="1"/>
          <p:nvPr>
            <p:ph type="title"/>
          </p:nvPr>
        </p:nvSpPr>
        <p:spPr>
          <a:xfrm>
            <a:off x="641000" y="2353267"/>
            <a:ext cx="10962900" cy="1209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16"/>
          <p:cNvCxnSpPr/>
          <p:nvPr/>
        </p:nvCxnSpPr>
        <p:spPr>
          <a:xfrm>
            <a:off x="656750" y="168037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6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17"/>
          <p:cNvCxnSpPr/>
          <p:nvPr/>
        </p:nvCxnSpPr>
        <p:spPr>
          <a:xfrm>
            <a:off x="656750" y="168037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7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517200" y="1986433"/>
            <a:ext cx="53331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4" name="Google Shape;104;p17"/>
          <p:cNvSpPr txBox="1"/>
          <p:nvPr>
            <p:ph idx="2" type="body"/>
          </p:nvPr>
        </p:nvSpPr>
        <p:spPr>
          <a:xfrm>
            <a:off x="6341600" y="1986433"/>
            <a:ext cx="53331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19"/>
          <p:cNvCxnSpPr/>
          <p:nvPr/>
        </p:nvCxnSpPr>
        <p:spPr>
          <a:xfrm>
            <a:off x="652291" y="1883036"/>
            <a:ext cx="4419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9"/>
          <p:cNvSpPr txBox="1"/>
          <p:nvPr>
            <p:ph type="title"/>
          </p:nvPr>
        </p:nvSpPr>
        <p:spPr>
          <a:xfrm>
            <a:off x="5172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517200" y="2125367"/>
            <a:ext cx="3744000" cy="357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/>
          <p:nvPr/>
        </p:nvSpPr>
        <p:spPr>
          <a:xfrm>
            <a:off x="6096000" y="-100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p21"/>
          <p:cNvCxnSpPr/>
          <p:nvPr/>
        </p:nvCxnSpPr>
        <p:spPr>
          <a:xfrm>
            <a:off x="6706233" y="5994004"/>
            <a:ext cx="721200" cy="0"/>
          </a:xfrm>
          <a:prstGeom prst="straightConnector1">
            <a:avLst/>
          </a:prstGeom>
          <a:noFill/>
          <a:ln cap="flat" cmpd="sng" w="508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1"/>
          <p:cNvSpPr txBox="1"/>
          <p:nvPr>
            <p:ph type="title"/>
          </p:nvPr>
        </p:nvSpPr>
        <p:spPr>
          <a:xfrm>
            <a:off x="354000" y="1612100"/>
            <a:ext cx="5393700" cy="2008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54000" y="36920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26000" y="56449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/>
          <p:nvPr/>
        </p:nvSpPr>
        <p:spPr>
          <a:xfrm>
            <a:off x="200" y="6769100"/>
            <a:ext cx="12191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 txBox="1"/>
          <p:nvPr>
            <p:ph hasCustomPrompt="1" type="title"/>
          </p:nvPr>
        </p:nvSpPr>
        <p:spPr>
          <a:xfrm>
            <a:off x="517200" y="1536600"/>
            <a:ext cx="111576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517200" y="3892600"/>
            <a:ext cx="111576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/>
        </p:nvSpPr>
        <p:spPr>
          <a:xfrm>
            <a:off x="295275" y="2720280"/>
            <a:ext cx="116016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Crane GatePass &amp; SafetyCheck</a:t>
            </a:r>
            <a:endParaRPr sz="48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Alert Notification System</a:t>
            </a:r>
            <a:endParaRPr sz="48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8942561" y="6102725"/>
            <a:ext cx="2638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FMM-Infrastructure</a:t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622056" y="6138659"/>
            <a:ext cx="3060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alqama.hasnain@tatasteel.com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0" y="285750"/>
            <a:ext cx="762000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Tata Steel Logo.svg - Wikimedia Commons" id="142" name="Google Shape;1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500" y="714450"/>
            <a:ext cx="1941760" cy="2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0775" y="1673376"/>
            <a:ext cx="670450" cy="6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28925"/>
            <a:ext cx="514350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28925"/>
            <a:ext cx="51435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/>
        </p:nvSpPr>
        <p:spPr>
          <a:xfrm>
            <a:off x="762000" y="571500"/>
            <a:ext cx="588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D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 STATEMENT</a:t>
            </a:r>
            <a:endParaRPr sz="2800"/>
          </a:p>
        </p:txBody>
      </p:sp>
      <p:sp>
        <p:nvSpPr>
          <p:cNvPr id="152" name="Google Shape;152;p26"/>
          <p:cNvSpPr txBox="1"/>
          <p:nvPr/>
        </p:nvSpPr>
        <p:spPr>
          <a:xfrm>
            <a:off x="1152525" y="3219450"/>
            <a:ext cx="45805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High Error Susceptibility</a:t>
            </a:r>
            <a:endParaRPr/>
          </a:p>
        </p:txBody>
      </p:sp>
      <p:sp>
        <p:nvSpPr>
          <p:cNvPr id="153" name="Google Shape;153;p26"/>
          <p:cNvSpPr txBox="1"/>
          <p:nvPr/>
        </p:nvSpPr>
        <p:spPr>
          <a:xfrm>
            <a:off x="1152525" y="3638550"/>
            <a:ext cx="4362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Manual checking of dates daily is prone to oversight. Busy schedules and cognitive load </a:t>
            </a:r>
            <a:r>
              <a:rPr lang="en-US" sz="15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may </a:t>
            </a: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lead to missed validity milestones.</a:t>
            </a:r>
            <a:endParaRPr/>
          </a:p>
        </p:txBody>
      </p:sp>
      <p:sp>
        <p:nvSpPr>
          <p:cNvPr id="154" name="Google Shape;154;p26"/>
          <p:cNvSpPr txBox="1"/>
          <p:nvPr/>
        </p:nvSpPr>
        <p:spPr>
          <a:xfrm>
            <a:off x="6677025" y="3219450"/>
            <a:ext cx="45805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Reactive Response</a:t>
            </a:r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6677025" y="3638550"/>
            <a:ext cx="4362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If the expiration is </a:t>
            </a: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 identified after the deadline has passed, </a:t>
            </a:r>
            <a:r>
              <a:rPr lang="en-US" sz="15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there would </a:t>
            </a: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operational delays and grounding of equipment.</a:t>
            </a:r>
            <a:endParaRPr/>
          </a:p>
        </p:txBody>
      </p:sp>
      <p:sp>
        <p:nvSpPr>
          <p:cNvPr id="156" name="Google Shape;156;p26"/>
          <p:cNvSpPr/>
          <p:nvPr/>
        </p:nvSpPr>
        <p:spPr>
          <a:xfrm>
            <a:off x="762000" y="1085850"/>
            <a:ext cx="4026900" cy="84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 txBox="1"/>
          <p:nvPr/>
        </p:nvSpPr>
        <p:spPr>
          <a:xfrm>
            <a:off x="762000" y="571500"/>
            <a:ext cx="503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D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 STATEMENT</a:t>
            </a:r>
            <a:endParaRPr sz="2800"/>
          </a:p>
        </p:txBody>
      </p:sp>
      <p:sp>
        <p:nvSpPr>
          <p:cNvPr id="163" name="Google Shape;163;p27"/>
          <p:cNvSpPr/>
          <p:nvPr/>
        </p:nvSpPr>
        <p:spPr>
          <a:xfrm>
            <a:off x="762000" y="1085850"/>
            <a:ext cx="4026900" cy="84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762000" y="3009900"/>
            <a:ext cx="5143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165" name="Google Shape;165;p27"/>
          <p:cNvSpPr txBox="1"/>
          <p:nvPr/>
        </p:nvSpPr>
        <p:spPr>
          <a:xfrm>
            <a:off x="762000" y="4555073"/>
            <a:ext cx="514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05A2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HUMAN RELIANCE</a:t>
            </a:r>
            <a:endParaRPr/>
          </a:p>
        </p:txBody>
      </p:sp>
      <p:sp>
        <p:nvSpPr>
          <p:cNvPr id="166" name="Google Shape;166;p27"/>
          <p:cNvSpPr txBox="1"/>
          <p:nvPr/>
        </p:nvSpPr>
        <p:spPr>
          <a:xfrm>
            <a:off x="6286500" y="2509837"/>
            <a:ext cx="540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The Compliance Gap</a:t>
            </a:r>
            <a:endParaRPr sz="3000"/>
          </a:p>
        </p:txBody>
      </p:sp>
      <p:sp>
        <p:nvSpPr>
          <p:cNvPr id="167" name="Google Shape;167;p27"/>
          <p:cNvSpPr txBox="1"/>
          <p:nvPr/>
        </p:nvSpPr>
        <p:spPr>
          <a:xfrm>
            <a:off x="6286500" y="3205162"/>
            <a:ext cx="51435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Without automated intervention, the integrity of </a:t>
            </a:r>
            <a:r>
              <a:rPr lang="en-US" sz="18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rane </a:t>
            </a:r>
            <a:r>
              <a:rPr lang="en-US" sz="18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atepass and </a:t>
            </a:r>
            <a:r>
              <a:rPr lang="en-US" sz="18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afety </a:t>
            </a:r>
            <a:r>
              <a:rPr lang="en-US" sz="18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hecks rests solely on administrative bandwidth. </a:t>
            </a:r>
            <a:b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This introduces a single point of failure in site safety protocols.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/>
        </p:nvSpPr>
        <p:spPr>
          <a:xfrm>
            <a:off x="762000" y="571500"/>
            <a:ext cx="653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2D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SOLUTION</a:t>
            </a:r>
            <a:endParaRPr sz="3000"/>
          </a:p>
        </p:txBody>
      </p:sp>
      <p:sp>
        <p:nvSpPr>
          <p:cNvPr id="174" name="Google Shape;174;p28"/>
          <p:cNvSpPr txBox="1"/>
          <p:nvPr/>
        </p:nvSpPr>
        <p:spPr>
          <a:xfrm>
            <a:off x="877888" y="3714750"/>
            <a:ext cx="31336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Cloud Logic</a:t>
            </a:r>
            <a:endParaRPr/>
          </a:p>
        </p:txBody>
      </p:sp>
      <p:sp>
        <p:nvSpPr>
          <p:cNvPr id="175" name="Google Shape;175;p28"/>
          <p:cNvSpPr txBox="1"/>
          <p:nvPr/>
        </p:nvSpPr>
        <p:spPr>
          <a:xfrm>
            <a:off x="952500" y="4181475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Programs run daily on cloud triggers, removing local dependence.</a:t>
            </a:r>
            <a:endParaRPr/>
          </a:p>
        </p:txBody>
      </p:sp>
      <p:sp>
        <p:nvSpPr>
          <p:cNvPr id="176" name="Google Shape;176;p28"/>
          <p:cNvSpPr txBox="1"/>
          <p:nvPr/>
        </p:nvSpPr>
        <p:spPr>
          <a:xfrm>
            <a:off x="4529089" y="3714750"/>
            <a:ext cx="313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Proactive </a:t>
            </a:r>
            <a:r>
              <a:rPr b="1" lang="en-US" sz="2100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Montoring</a:t>
            </a:r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4603700" y="4181475"/>
            <a:ext cx="2984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Advance warnings enable proactive renewal of </a:t>
            </a:r>
            <a:r>
              <a:rPr lang="en-US" sz="15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afety </a:t>
            </a:r>
            <a:r>
              <a:rPr lang="en-US" sz="15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hecks</a:t>
            </a:r>
            <a:r>
              <a:rPr lang="en-US" sz="15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 and Gatepass</a:t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8180285" y="3714750"/>
            <a:ext cx="313382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Centralized Data</a:t>
            </a:r>
            <a:endParaRPr/>
          </a:p>
        </p:txBody>
      </p:sp>
      <p:sp>
        <p:nvSpPr>
          <p:cNvPr id="179" name="Google Shape;179;p28"/>
          <p:cNvSpPr txBox="1"/>
          <p:nvPr/>
        </p:nvSpPr>
        <p:spPr>
          <a:xfrm>
            <a:off x="8254900" y="4181475"/>
            <a:ext cx="29845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Dynamic link between spreadsheets and notification payloads.</a:t>
            </a:r>
            <a:endParaRPr/>
          </a:p>
        </p:txBody>
      </p:sp>
      <p:pic>
        <p:nvPicPr>
          <p:cNvPr id="180" name="Google Shape;180;p28" title="cloud-servi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625" y="2464450"/>
            <a:ext cx="794335" cy="794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8" title="xl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50036" y="2464452"/>
            <a:ext cx="794324" cy="79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8" title="tim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8829" y="2464452"/>
            <a:ext cx="794324" cy="79432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/>
          <p:nvPr/>
        </p:nvSpPr>
        <p:spPr>
          <a:xfrm>
            <a:off x="762000" y="1085850"/>
            <a:ext cx="4026900" cy="84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120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9"/>
          <p:cNvSpPr txBox="1"/>
          <p:nvPr/>
        </p:nvSpPr>
        <p:spPr>
          <a:xfrm>
            <a:off x="762000" y="571500"/>
            <a:ext cx="559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002D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INTEGRATION ARCHITECTURE</a:t>
            </a:r>
            <a:endParaRPr sz="2900"/>
          </a:p>
        </p:txBody>
      </p:sp>
      <p:sp>
        <p:nvSpPr>
          <p:cNvPr id="191" name="Google Shape;191;p29"/>
          <p:cNvSpPr/>
          <p:nvPr/>
        </p:nvSpPr>
        <p:spPr>
          <a:xfrm>
            <a:off x="762000" y="1085850"/>
            <a:ext cx="5324400" cy="192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 txBox="1"/>
          <p:nvPr/>
        </p:nvSpPr>
        <p:spPr>
          <a:xfrm>
            <a:off x="762000" y="2033587"/>
            <a:ext cx="530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System Workflow</a:t>
            </a:r>
            <a:endParaRPr sz="2600"/>
          </a:p>
        </p:txBody>
      </p:sp>
      <p:sp>
        <p:nvSpPr>
          <p:cNvPr id="193" name="Google Shape;193;p29"/>
          <p:cNvSpPr txBox="1"/>
          <p:nvPr/>
        </p:nvSpPr>
        <p:spPr>
          <a:xfrm>
            <a:off x="762000" y="2728912"/>
            <a:ext cx="50484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By linking </a:t>
            </a:r>
            <a:r>
              <a:rPr b="1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MS Excel</a:t>
            </a:r>
            <a: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 with </a:t>
            </a:r>
            <a:r>
              <a:rPr b="1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Power Automate</a:t>
            </a:r>
            <a: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 (or Google Sheets with AppScript), we created a self-sustaining loop.</a:t>
            </a:r>
            <a:endParaRPr sz="1800"/>
          </a:p>
        </p:txBody>
      </p:sp>
      <p:sp>
        <p:nvSpPr>
          <p:cNvPr id="194" name="Google Shape;194;p29"/>
          <p:cNvSpPr txBox="1"/>
          <p:nvPr/>
        </p:nvSpPr>
        <p:spPr>
          <a:xfrm>
            <a:off x="762000" y="4233862"/>
            <a:ext cx="50484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The system evaluates dates daily and triggers personalized emails based on a defined recipient list within the same excel </a:t>
            </a:r>
            <a:r>
              <a:rPr lang="en-US" sz="18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sheet</a:t>
            </a:r>
            <a:r>
              <a:rPr b="0" i="0" lang="en-US" sz="18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/>
          </a:p>
        </p:txBody>
      </p:sp>
      <p:pic>
        <p:nvPicPr>
          <p:cNvPr descr="image.png" id="195" name="Google Shape;19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4311" y="2181225"/>
            <a:ext cx="4542978" cy="340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 txBox="1"/>
          <p:nvPr/>
        </p:nvSpPr>
        <p:spPr>
          <a:xfrm>
            <a:off x="762000" y="571500"/>
            <a:ext cx="355044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D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FRAMEWORK</a:t>
            </a:r>
            <a:endParaRPr/>
          </a:p>
        </p:txBody>
      </p:sp>
      <p:sp>
        <p:nvSpPr>
          <p:cNvPr id="202" name="Google Shape;202;p30"/>
          <p:cNvSpPr/>
          <p:nvPr/>
        </p:nvSpPr>
        <p:spPr>
          <a:xfrm>
            <a:off x="762000" y="1085850"/>
            <a:ext cx="3381375" cy="190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30"/>
          <p:cNvGraphicFramePr/>
          <p:nvPr/>
        </p:nvGraphicFramePr>
        <p:xfrm>
          <a:off x="762000" y="2747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{825E5FBA-4DDE-4991-9BC7-8358B63316FE}</a:tableStyleId>
              </a:tblPr>
              <a:tblGrid>
                <a:gridCol w="1969150"/>
                <a:gridCol w="1982250"/>
                <a:gridCol w="2243125"/>
                <a:gridCol w="1930000"/>
                <a:gridCol w="2543475"/>
              </a:tblGrid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VEHICLE </a:t>
                      </a:r>
                      <a:b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NAME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REGISTRATION </a:t>
                      </a:r>
                      <a:b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NUMBER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GATE PASS </a:t>
                      </a:r>
                      <a:b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VALIDITY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SAFETY CHECK VALIDITY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NOTIFICATION </a:t>
                      </a:r>
                      <a:b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450T Crane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MH46CR-1192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04/28/2026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03/13/2027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Monitoring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350T-1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OD34Y-9927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04/21/2026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03/10/2027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Alert Triggered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Trailer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JH05EH-4547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06/20/2026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Monitoring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80T-1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GJ15SV-2323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04/29/2026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09/19/2027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Pending Warning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30"/>
          <p:cNvSpPr/>
          <p:nvPr/>
        </p:nvSpPr>
        <p:spPr>
          <a:xfrm>
            <a:off x="762000" y="3714750"/>
            <a:ext cx="196914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2731144" y="3714750"/>
            <a:ext cx="1982241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4713386" y="3714750"/>
            <a:ext cx="224313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6956524" y="3714750"/>
            <a:ext cx="193000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8886527" y="3714750"/>
            <a:ext cx="254347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762000" y="4210050"/>
            <a:ext cx="196914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2731144" y="4210050"/>
            <a:ext cx="1982241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4713386" y="4210050"/>
            <a:ext cx="224313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6956524" y="4210050"/>
            <a:ext cx="193000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8886527" y="4210050"/>
            <a:ext cx="254347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762000" y="4705350"/>
            <a:ext cx="196914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2731144" y="4705350"/>
            <a:ext cx="1982241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4713386" y="4705350"/>
            <a:ext cx="224313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6956524" y="4705350"/>
            <a:ext cx="193000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8886527" y="4705350"/>
            <a:ext cx="254347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762000" y="5200650"/>
            <a:ext cx="196914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2731144" y="5200650"/>
            <a:ext cx="1982241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4713386" y="5200650"/>
            <a:ext cx="224313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6956524" y="5200650"/>
            <a:ext cx="193000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8886527" y="5200650"/>
            <a:ext cx="254347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28925"/>
            <a:ext cx="514350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28925"/>
            <a:ext cx="51435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 txBox="1"/>
          <p:nvPr/>
        </p:nvSpPr>
        <p:spPr>
          <a:xfrm>
            <a:off x="762000" y="571500"/>
            <a:ext cx="628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02D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NOTIFICATION LOGIC</a:t>
            </a:r>
            <a:endParaRPr/>
          </a:p>
        </p:txBody>
      </p:sp>
      <p:sp>
        <p:nvSpPr>
          <p:cNvPr id="232" name="Google Shape;232;p31"/>
          <p:cNvSpPr/>
          <p:nvPr/>
        </p:nvSpPr>
        <p:spPr>
          <a:xfrm>
            <a:off x="762000" y="1085850"/>
            <a:ext cx="5981700" cy="1905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1219200" y="3219450"/>
            <a:ext cx="45105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Stage 1: Warning</a:t>
            </a:r>
            <a:endParaRPr/>
          </a:p>
        </p:txBody>
      </p:sp>
      <p:sp>
        <p:nvSpPr>
          <p:cNvPr id="234" name="Google Shape;234;p31"/>
          <p:cNvSpPr txBox="1"/>
          <p:nvPr/>
        </p:nvSpPr>
        <p:spPr>
          <a:xfrm>
            <a:off x="1219200" y="3638550"/>
            <a:ext cx="4295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Notifications are triggered </a:t>
            </a:r>
            <a:r>
              <a:rPr b="1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7 days prior</a:t>
            </a: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 to expiration. This provides a lead-time buffer for physical inspections and documentation prep.</a:t>
            </a:r>
            <a:endParaRPr/>
          </a:p>
        </p:txBody>
      </p:sp>
      <p:sp>
        <p:nvSpPr>
          <p:cNvPr id="235" name="Google Shape;235;p31"/>
          <p:cNvSpPr txBox="1"/>
          <p:nvPr/>
        </p:nvSpPr>
        <p:spPr>
          <a:xfrm>
            <a:off x="6743700" y="3219450"/>
            <a:ext cx="45105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Stage 2: Critical</a:t>
            </a:r>
            <a:endParaRPr/>
          </a:p>
        </p:txBody>
      </p:sp>
      <p:sp>
        <p:nvSpPr>
          <p:cNvPr id="236" name="Google Shape;236;p31"/>
          <p:cNvSpPr txBox="1"/>
          <p:nvPr/>
        </p:nvSpPr>
        <p:spPr>
          <a:xfrm>
            <a:off x="6743700" y="3638550"/>
            <a:ext cx="4295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rPr>
              <a:t>Immediate escalations are sent if dates have already expired, ensuring assets are not utilized in a non-compliant state.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2"/>
          <p:cNvSpPr txBox="1"/>
          <p:nvPr/>
        </p:nvSpPr>
        <p:spPr>
          <a:xfrm>
            <a:off x="762000" y="571500"/>
            <a:ext cx="518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002D6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</a:t>
            </a:r>
            <a:endParaRPr sz="3400"/>
          </a:p>
        </p:txBody>
      </p:sp>
      <p:sp>
        <p:nvSpPr>
          <p:cNvPr id="243" name="Google Shape;243;p32"/>
          <p:cNvSpPr/>
          <p:nvPr/>
        </p:nvSpPr>
        <p:spPr>
          <a:xfrm>
            <a:off x="762000" y="1085850"/>
            <a:ext cx="4934100" cy="192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" name="Google Shape;244;p32"/>
          <p:cNvGrpSpPr/>
          <p:nvPr/>
        </p:nvGrpSpPr>
        <p:grpSpPr>
          <a:xfrm>
            <a:off x="762000" y="1981319"/>
            <a:ext cx="10668150" cy="3648685"/>
            <a:chOff x="762000" y="1524000"/>
            <a:chExt cx="10668150" cy="4191000"/>
          </a:xfrm>
        </p:grpSpPr>
        <p:sp>
          <p:nvSpPr>
            <p:cNvPr id="245" name="Google Shape;245;p32"/>
            <p:cNvSpPr/>
            <p:nvPr/>
          </p:nvSpPr>
          <p:spPr>
            <a:xfrm>
              <a:off x="762000" y="1524000"/>
              <a:ext cx="50484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2"/>
            <p:cNvSpPr txBox="1"/>
            <p:nvPr/>
          </p:nvSpPr>
          <p:spPr>
            <a:xfrm>
              <a:off x="1047750" y="1762125"/>
              <a:ext cx="4476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02D62"/>
                  </a:solidFill>
                  <a:latin typeface="Inter"/>
                  <a:ea typeface="Inter"/>
                  <a:cs typeface="Inter"/>
                  <a:sym typeface="Inter"/>
                </a:rPr>
                <a:t>Zero Human Error</a:t>
              </a:r>
              <a:endParaRPr b="1" sz="2100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54595F"/>
                  </a:solidFill>
                  <a:latin typeface="Inter"/>
                  <a:ea typeface="Inter"/>
                  <a:cs typeface="Inter"/>
                  <a:sym typeface="Inter"/>
                </a:rPr>
                <a:t>C</a:t>
              </a:r>
              <a:r>
                <a:rPr b="0" lang="en-US" sz="1600">
                  <a:solidFill>
                    <a:srgbClr val="54595F"/>
                  </a:solidFill>
                  <a:latin typeface="Inter"/>
                  <a:ea typeface="Inter"/>
                  <a:cs typeface="Inter"/>
                  <a:sym typeface="Inter"/>
                </a:rPr>
                <a:t>loud triggers ensure no expiration date is ever overlooked.</a:t>
              </a:r>
              <a:endParaRPr b="0" sz="16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6381750" y="1524000"/>
              <a:ext cx="50484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2"/>
            <p:cNvSpPr txBox="1"/>
            <p:nvPr/>
          </p:nvSpPr>
          <p:spPr>
            <a:xfrm>
              <a:off x="6667500" y="1762125"/>
              <a:ext cx="4476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02D62"/>
                  </a:solidFill>
                  <a:latin typeface="Inter"/>
                  <a:ea typeface="Inter"/>
                  <a:cs typeface="Inter"/>
                  <a:sym typeface="Inter"/>
                </a:rPr>
                <a:t>Proactive Maintenance</a:t>
              </a:r>
              <a:endParaRPr b="1" sz="2100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54595F"/>
                  </a:solidFill>
                  <a:latin typeface="Inter"/>
                  <a:ea typeface="Inter"/>
                  <a:cs typeface="Inter"/>
                  <a:sym typeface="Inter"/>
                </a:rPr>
                <a:t>7-day windows enable teams to schedule safety checks without disrupting operations.</a:t>
              </a:r>
              <a:endParaRPr b="0" sz="16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762000" y="3810000"/>
              <a:ext cx="50484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2"/>
            <p:cNvSpPr txBox="1"/>
            <p:nvPr/>
          </p:nvSpPr>
          <p:spPr>
            <a:xfrm>
              <a:off x="1047750" y="4048125"/>
              <a:ext cx="4476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02D62"/>
                  </a:solidFill>
                  <a:latin typeface="Inter"/>
                  <a:ea typeface="Inter"/>
                  <a:cs typeface="Inter"/>
                  <a:sym typeface="Inter"/>
                </a:rPr>
                <a:t>Resource Optimization</a:t>
              </a:r>
              <a:endParaRPr b="1" sz="2100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54595F"/>
                  </a:solidFill>
                  <a:latin typeface="Inter"/>
                  <a:ea typeface="Inter"/>
                  <a:cs typeface="Inter"/>
                  <a:sym typeface="Inter"/>
                </a:rPr>
                <a:t>Administrative staff are freed from manual auditing, reallocating hours to high-value tasks.</a:t>
              </a:r>
              <a:endParaRPr b="0" sz="16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6381750" y="3810000"/>
              <a:ext cx="50484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2"/>
            <p:cNvSpPr txBox="1"/>
            <p:nvPr/>
          </p:nvSpPr>
          <p:spPr>
            <a:xfrm>
              <a:off x="6667500" y="4048125"/>
              <a:ext cx="4476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02D62"/>
                  </a:solidFill>
                  <a:latin typeface="Inter"/>
                  <a:ea typeface="Inter"/>
                  <a:cs typeface="Inter"/>
                  <a:sym typeface="Inter"/>
                </a:rPr>
                <a:t>Audit Readiness</a:t>
              </a:r>
              <a:endParaRPr b="1" sz="2100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54595F"/>
                  </a:solidFill>
                  <a:latin typeface="Inter"/>
                  <a:ea typeface="Inter"/>
                  <a:cs typeface="Inter"/>
                  <a:sym typeface="Inter"/>
                </a:rPr>
                <a:t>Centralized, updated logs provide instant verification for site safety audits.</a:t>
              </a:r>
              <a:endParaRPr b="0" sz="1600">
                <a:solidFill>
                  <a:srgbClr val="54595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762000" y="1524000"/>
              <a:ext cx="57300" cy="1905000"/>
            </a:xfrm>
            <a:prstGeom prst="roundRect">
              <a:avLst>
                <a:gd fmla="val 50000" name="adj"/>
              </a:avLst>
            </a:prstGeom>
            <a:solidFill>
              <a:srgbClr val="F05A2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6381750" y="1524000"/>
              <a:ext cx="57300" cy="1905000"/>
            </a:xfrm>
            <a:prstGeom prst="roundRect">
              <a:avLst>
                <a:gd fmla="val 50000" name="adj"/>
              </a:avLst>
            </a:prstGeom>
            <a:solidFill>
              <a:srgbClr val="F05A2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762000" y="3810000"/>
              <a:ext cx="57300" cy="1905000"/>
            </a:xfrm>
            <a:prstGeom prst="roundRect">
              <a:avLst>
                <a:gd fmla="val 50000" name="adj"/>
              </a:avLst>
            </a:prstGeom>
            <a:solidFill>
              <a:srgbClr val="F05A2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2"/>
            <p:cNvSpPr/>
            <p:nvPr/>
          </p:nvSpPr>
          <p:spPr>
            <a:xfrm>
              <a:off x="6381750" y="3810000"/>
              <a:ext cx="57300" cy="1905000"/>
            </a:xfrm>
            <a:prstGeom prst="roundRect">
              <a:avLst>
                <a:gd fmla="val 50000" name="adj"/>
              </a:avLst>
            </a:prstGeom>
            <a:solidFill>
              <a:srgbClr val="F05A2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/>
        </p:nvSpPr>
        <p:spPr>
          <a:xfrm>
            <a:off x="295200" y="2967305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THANK</a:t>
            </a:r>
            <a:r>
              <a:rPr lang="en-US" sz="60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YOU</a:t>
            </a:r>
            <a:endParaRPr>
              <a:solidFill>
                <a:srgbClr val="DEFF9A"/>
              </a:solidFill>
            </a:endParaRPr>
          </a:p>
        </p:txBody>
      </p:sp>
      <p:pic>
        <p:nvPicPr>
          <p:cNvPr id="263" name="Google Shape;2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3750" y="285750"/>
            <a:ext cx="762000" cy="4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