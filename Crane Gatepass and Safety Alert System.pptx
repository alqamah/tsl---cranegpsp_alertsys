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y="6858000" cx="12192000"/>
  <p:notesSz cx="6858000" cy="9144000"/>
  <p:embeddedFontLst>
    <p:embeddedFont>
      <p:font typeface="Roboto Slab"/>
      <p:regular r:id="rId17"/>
      <p:bold r:id="rId18"/>
    </p:embeddedFont>
    <p:embeddedFont>
      <p:font typeface="Roboto"/>
      <p:regular r:id="rId19"/>
      <p:bold r:id="rId20"/>
      <p:italic r:id="rId21"/>
      <p:boldItalic r:id="rId22"/>
    </p:embeddedFont>
    <p:embeddedFont>
      <p:font typeface="Inter SemiBold"/>
      <p:regular r:id="rId23"/>
      <p:bold r:id="rId24"/>
      <p:italic r:id="rId25"/>
      <p:boldItalic r:id="rId26"/>
    </p:embeddedFont>
    <p:embeddedFont>
      <p:font typeface="Inter"/>
      <p:regular r:id="rId27"/>
      <p:bold r:id="rId28"/>
      <p:italic r:id="rId29"/>
      <p:boldItalic r:id="rId30"/>
    </p:embeddedFont>
    <p:embeddedFont>
      <p:font typeface="Urbanist Medium"/>
      <p:regular r:id="rId31"/>
      <p:bold r:id="rId32"/>
      <p:italic r:id="rId33"/>
      <p:boldItalic r:id="rId34"/>
    </p:embeddedFont>
    <p:embeddedFont>
      <p:font typeface="Urbanis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3E71EDB-8FEA-407E-AA62-1749095DD9C7}">
  <a:tblStyle styleId="{63E71EDB-8FEA-407E-AA62-1749095DD9C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.fntdata"/><Relationship Id="rId22" Type="http://schemas.openxmlformats.org/officeDocument/2006/relationships/font" Target="fonts/Roboto-boldItalic.fntdata"/><Relationship Id="rId21" Type="http://schemas.openxmlformats.org/officeDocument/2006/relationships/font" Target="fonts/Roboto-italic.fntdata"/><Relationship Id="rId24" Type="http://schemas.openxmlformats.org/officeDocument/2006/relationships/font" Target="fonts/InterSemiBold-bold.fntdata"/><Relationship Id="rId23" Type="http://schemas.openxmlformats.org/officeDocument/2006/relationships/font" Target="fonts/InterSemiBold-regular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font" Target="fonts/InterSemiBold-boldItalic.fntdata"/><Relationship Id="rId25" Type="http://schemas.openxmlformats.org/officeDocument/2006/relationships/font" Target="fonts/InterSemiBold-italic.fntdata"/><Relationship Id="rId28" Type="http://schemas.openxmlformats.org/officeDocument/2006/relationships/font" Target="fonts/Inter-bold.fntdata"/><Relationship Id="rId27" Type="http://schemas.openxmlformats.org/officeDocument/2006/relationships/font" Target="fonts/Inter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Inter-italic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UrbanistMedium-regular.fntdata"/><Relationship Id="rId30" Type="http://schemas.openxmlformats.org/officeDocument/2006/relationships/font" Target="fonts/Inter-boldItalic.fntdata"/><Relationship Id="rId11" Type="http://schemas.openxmlformats.org/officeDocument/2006/relationships/slide" Target="slides/slide4.xml"/><Relationship Id="rId33" Type="http://schemas.openxmlformats.org/officeDocument/2006/relationships/font" Target="fonts/UrbanistMedium-italic.fntdata"/><Relationship Id="rId10" Type="http://schemas.openxmlformats.org/officeDocument/2006/relationships/slide" Target="slides/slide3.xml"/><Relationship Id="rId32" Type="http://schemas.openxmlformats.org/officeDocument/2006/relationships/font" Target="fonts/UrbanistMedium-bold.fntdata"/><Relationship Id="rId13" Type="http://schemas.openxmlformats.org/officeDocument/2006/relationships/slide" Target="slides/slide6.xml"/><Relationship Id="rId35" Type="http://schemas.openxmlformats.org/officeDocument/2006/relationships/font" Target="fonts/Urbanist-regular.fntdata"/><Relationship Id="rId12" Type="http://schemas.openxmlformats.org/officeDocument/2006/relationships/slide" Target="slides/slide5.xml"/><Relationship Id="rId34" Type="http://schemas.openxmlformats.org/officeDocument/2006/relationships/font" Target="fonts/UrbanistMedium-boldItalic.fntdata"/><Relationship Id="rId15" Type="http://schemas.openxmlformats.org/officeDocument/2006/relationships/slide" Target="slides/slide8.xml"/><Relationship Id="rId37" Type="http://schemas.openxmlformats.org/officeDocument/2006/relationships/font" Target="fonts/Urbanist-italic.fntdata"/><Relationship Id="rId14" Type="http://schemas.openxmlformats.org/officeDocument/2006/relationships/slide" Target="slides/slide7.xml"/><Relationship Id="rId36" Type="http://schemas.openxmlformats.org/officeDocument/2006/relationships/font" Target="fonts/Urbanist-bold.fntdata"/><Relationship Id="rId17" Type="http://schemas.openxmlformats.org/officeDocument/2006/relationships/font" Target="fonts/RobotoSlab-regular.fntdata"/><Relationship Id="rId16" Type="http://schemas.openxmlformats.org/officeDocument/2006/relationships/slide" Target="slides/slide9.xml"/><Relationship Id="rId38" Type="http://schemas.openxmlformats.org/officeDocument/2006/relationships/font" Target="fonts/Urbanist-boldItalic.fntdata"/><Relationship Id="rId19" Type="http://schemas.openxmlformats.org/officeDocument/2006/relationships/font" Target="fonts/Roboto-regular.fntdata"/><Relationship Id="rId18" Type="http://schemas.openxmlformats.org/officeDocument/2006/relationships/font" Target="fonts/RobotoSlab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6de03980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e6de03980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e6de03980d_0_3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g3e6de03980d_0_3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/>
          <p:nvPr/>
        </p:nvSpPr>
        <p:spPr>
          <a:xfrm>
            <a:off x="2033067" y="896808"/>
            <a:ext cx="1442131" cy="1499896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3810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86" name="Google Shape;86;p14"/>
          <p:cNvSpPr/>
          <p:nvPr/>
        </p:nvSpPr>
        <p:spPr>
          <a:xfrm rot="10800000">
            <a:off x="8716786" y="4457271"/>
            <a:ext cx="1442131" cy="1499896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3810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cxnSp>
        <p:nvCxnSpPr>
          <p:cNvPr id="87" name="Google Shape;87;p14"/>
          <p:cNvCxnSpPr/>
          <p:nvPr/>
        </p:nvCxnSpPr>
        <p:spPr>
          <a:xfrm>
            <a:off x="5812802" y="3756618"/>
            <a:ext cx="566400" cy="0"/>
          </a:xfrm>
          <a:prstGeom prst="straightConnector1">
            <a:avLst/>
          </a:prstGeom>
          <a:noFill/>
          <a:ln cap="flat" cmpd="sng" w="508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8" name="Google Shape;88;p14"/>
          <p:cNvSpPr txBox="1"/>
          <p:nvPr>
            <p:ph type="ctrTitle"/>
          </p:nvPr>
        </p:nvSpPr>
        <p:spPr>
          <a:xfrm>
            <a:off x="2240402" y="1585234"/>
            <a:ext cx="7711200" cy="1943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/>
        </p:txBody>
      </p:sp>
      <p:sp>
        <p:nvSpPr>
          <p:cNvPr id="89" name="Google Shape;89;p14"/>
          <p:cNvSpPr txBox="1"/>
          <p:nvPr>
            <p:ph idx="1" type="subTitle"/>
          </p:nvPr>
        </p:nvSpPr>
        <p:spPr>
          <a:xfrm>
            <a:off x="2240402" y="4065933"/>
            <a:ext cx="7711200" cy="1212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200"/>
              <a:buFont typeface="Roboto Slab"/>
              <a:buNone/>
              <a:defRPr sz="32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90" name="Google Shape;90;p14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2" name="Google Shape;92;p15"/>
          <p:cNvCxnSpPr/>
          <p:nvPr/>
        </p:nvCxnSpPr>
        <p:spPr>
          <a:xfrm>
            <a:off x="5812802" y="3756618"/>
            <a:ext cx="566400" cy="0"/>
          </a:xfrm>
          <a:prstGeom prst="straightConnector1">
            <a:avLst/>
          </a:prstGeom>
          <a:noFill/>
          <a:ln cap="flat" cmpd="sng" w="508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" name="Google Shape;93;p15"/>
          <p:cNvSpPr txBox="1"/>
          <p:nvPr>
            <p:ph type="title"/>
          </p:nvPr>
        </p:nvSpPr>
        <p:spPr>
          <a:xfrm>
            <a:off x="641000" y="2353267"/>
            <a:ext cx="10962900" cy="1209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94" name="Google Shape;94;p15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6" name="Google Shape;96;p16"/>
          <p:cNvCxnSpPr/>
          <p:nvPr/>
        </p:nvCxnSpPr>
        <p:spPr>
          <a:xfrm>
            <a:off x="656750" y="1680378"/>
            <a:ext cx="566400" cy="0"/>
          </a:xfrm>
          <a:prstGeom prst="straightConnector1">
            <a:avLst/>
          </a:prstGeom>
          <a:noFill/>
          <a:ln cap="flat" cmpd="sng" w="508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" name="Google Shape;97;p16"/>
          <p:cNvSpPr txBox="1"/>
          <p:nvPr>
            <p:ph type="title"/>
          </p:nvPr>
        </p:nvSpPr>
        <p:spPr>
          <a:xfrm>
            <a:off x="517200" y="610700"/>
            <a:ext cx="11157600" cy="914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98" name="Google Shape;98;p16"/>
          <p:cNvSpPr txBox="1"/>
          <p:nvPr>
            <p:ph idx="1" type="body"/>
          </p:nvPr>
        </p:nvSpPr>
        <p:spPr>
          <a:xfrm>
            <a:off x="517200" y="1986432"/>
            <a:ext cx="11157600" cy="410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99" name="Google Shape;99;p1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Google Shape;101;p17"/>
          <p:cNvCxnSpPr/>
          <p:nvPr/>
        </p:nvCxnSpPr>
        <p:spPr>
          <a:xfrm>
            <a:off x="656750" y="1680378"/>
            <a:ext cx="566400" cy="0"/>
          </a:xfrm>
          <a:prstGeom prst="straightConnector1">
            <a:avLst/>
          </a:prstGeom>
          <a:noFill/>
          <a:ln cap="flat" cmpd="sng" w="508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17"/>
          <p:cNvSpPr txBox="1"/>
          <p:nvPr>
            <p:ph type="title"/>
          </p:nvPr>
        </p:nvSpPr>
        <p:spPr>
          <a:xfrm>
            <a:off x="517200" y="610700"/>
            <a:ext cx="11157600" cy="914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03" name="Google Shape;103;p17"/>
          <p:cNvSpPr txBox="1"/>
          <p:nvPr>
            <p:ph idx="1" type="body"/>
          </p:nvPr>
        </p:nvSpPr>
        <p:spPr>
          <a:xfrm>
            <a:off x="517200" y="1986433"/>
            <a:ext cx="5333100" cy="410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104" name="Google Shape;104;p17"/>
          <p:cNvSpPr txBox="1"/>
          <p:nvPr>
            <p:ph idx="2" type="body"/>
          </p:nvPr>
        </p:nvSpPr>
        <p:spPr>
          <a:xfrm>
            <a:off x="6341600" y="1986433"/>
            <a:ext cx="5333100" cy="410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105" name="Google Shape;105;p17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/>
          <p:nvPr>
            <p:ph type="title"/>
          </p:nvPr>
        </p:nvSpPr>
        <p:spPr>
          <a:xfrm>
            <a:off x="517200" y="610700"/>
            <a:ext cx="11157600" cy="914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08" name="Google Shape;108;p1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Google Shape;110;p19"/>
          <p:cNvCxnSpPr/>
          <p:nvPr/>
        </p:nvCxnSpPr>
        <p:spPr>
          <a:xfrm>
            <a:off x="652291" y="1883036"/>
            <a:ext cx="441900" cy="0"/>
          </a:xfrm>
          <a:prstGeom prst="straightConnector1">
            <a:avLst/>
          </a:prstGeom>
          <a:noFill/>
          <a:ln cap="flat" cmpd="sng" w="508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1" name="Google Shape;111;p19"/>
          <p:cNvSpPr txBox="1"/>
          <p:nvPr>
            <p:ph type="title"/>
          </p:nvPr>
        </p:nvSpPr>
        <p:spPr>
          <a:xfrm>
            <a:off x="517200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517200" y="2125367"/>
            <a:ext cx="3744000" cy="35748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113" name="Google Shape;113;p19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/>
          <p:nvPr>
            <p:ph type="title"/>
          </p:nvPr>
        </p:nvSpPr>
        <p:spPr>
          <a:xfrm>
            <a:off x="653667" y="701800"/>
            <a:ext cx="74916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16" name="Google Shape;116;p20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/>
          <p:nvPr/>
        </p:nvSpPr>
        <p:spPr>
          <a:xfrm>
            <a:off x="6096000" y="-100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9" name="Google Shape;119;p21"/>
          <p:cNvCxnSpPr/>
          <p:nvPr/>
        </p:nvCxnSpPr>
        <p:spPr>
          <a:xfrm>
            <a:off x="6706233" y="5994004"/>
            <a:ext cx="721200" cy="0"/>
          </a:xfrm>
          <a:prstGeom prst="straightConnector1">
            <a:avLst/>
          </a:prstGeom>
          <a:noFill/>
          <a:ln cap="flat" cmpd="sng" w="508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0" name="Google Shape;120;p21"/>
          <p:cNvSpPr txBox="1"/>
          <p:nvPr>
            <p:ph type="title"/>
          </p:nvPr>
        </p:nvSpPr>
        <p:spPr>
          <a:xfrm>
            <a:off x="354000" y="1612100"/>
            <a:ext cx="5393700" cy="20085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 algn="ctr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/>
        </p:txBody>
      </p:sp>
      <p:sp>
        <p:nvSpPr>
          <p:cNvPr id="121" name="Google Shape;121;p21"/>
          <p:cNvSpPr txBox="1"/>
          <p:nvPr>
            <p:ph idx="1" type="subTitle"/>
          </p:nvPr>
        </p:nvSpPr>
        <p:spPr>
          <a:xfrm>
            <a:off x="354000" y="3692001"/>
            <a:ext cx="5393700" cy="179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 sz="28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122" name="Google Shape;122;p21"/>
          <p:cNvSpPr txBox="1"/>
          <p:nvPr>
            <p:ph idx="2" type="body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23" name="Google Shape;123;p2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426000" y="5644967"/>
            <a:ext cx="7998300" cy="798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/>
        </p:txBody>
      </p:sp>
      <p:sp>
        <p:nvSpPr>
          <p:cNvPr id="126" name="Google Shape;126;p2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/>
          <p:nvPr/>
        </p:nvSpPr>
        <p:spPr>
          <a:xfrm>
            <a:off x="200" y="6769100"/>
            <a:ext cx="12191700" cy="88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23"/>
          <p:cNvSpPr txBox="1"/>
          <p:nvPr>
            <p:ph hasCustomPrompt="1" type="title"/>
          </p:nvPr>
        </p:nvSpPr>
        <p:spPr>
          <a:xfrm>
            <a:off x="517200" y="1536600"/>
            <a:ext cx="11157600" cy="20511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300"/>
              <a:buNone/>
              <a:defRPr sz="173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0" name="Google Shape;130;p23"/>
          <p:cNvSpPr txBox="1"/>
          <p:nvPr>
            <p:ph idx="1" type="body"/>
          </p:nvPr>
        </p:nvSpPr>
        <p:spPr>
          <a:xfrm>
            <a:off x="517200" y="3892600"/>
            <a:ext cx="11157600" cy="1428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31" name="Google Shape;131;p2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4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rina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3"/>
          <p:cNvSpPr txBox="1"/>
          <p:nvPr>
            <p:ph type="title"/>
          </p:nvPr>
        </p:nvSpPr>
        <p:spPr>
          <a:xfrm>
            <a:off x="517200" y="610700"/>
            <a:ext cx="11157600" cy="9147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 Slab"/>
              <a:buNone/>
              <a:defRPr sz="4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82" name="Google Shape;82;p13"/>
          <p:cNvSpPr txBox="1"/>
          <p:nvPr>
            <p:ph idx="1" type="body"/>
          </p:nvPr>
        </p:nvSpPr>
        <p:spPr>
          <a:xfrm>
            <a:off x="517200" y="1986432"/>
            <a:ext cx="111576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  <a:defRPr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○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■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●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○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■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●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○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Roboto"/>
              <a:buChar char="■"/>
              <a:defRPr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11.png"/><Relationship Id="rId5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/>
        </p:nvSpPr>
        <p:spPr>
          <a:xfrm>
            <a:off x="295275" y="2720280"/>
            <a:ext cx="11601600" cy="15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Crane GatePass &amp; SafetyCheck</a:t>
            </a:r>
            <a:endParaRPr sz="4800">
              <a:solidFill>
                <a:srgbClr val="F5F5F5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Alert Notification System</a:t>
            </a:r>
            <a:endParaRPr sz="4800">
              <a:solidFill>
                <a:srgbClr val="DEFF9A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sp>
        <p:nvSpPr>
          <p:cNvPr id="139" name="Google Shape;139;p25"/>
          <p:cNvSpPr txBox="1"/>
          <p:nvPr/>
        </p:nvSpPr>
        <p:spPr>
          <a:xfrm>
            <a:off x="8942561" y="6102725"/>
            <a:ext cx="2638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FMM-Infrastructure</a:t>
            </a:r>
            <a:endParaRPr/>
          </a:p>
        </p:txBody>
      </p:sp>
      <p:sp>
        <p:nvSpPr>
          <p:cNvPr id="140" name="Google Shape;140;p25"/>
          <p:cNvSpPr txBox="1"/>
          <p:nvPr/>
        </p:nvSpPr>
        <p:spPr>
          <a:xfrm>
            <a:off x="622056" y="6138659"/>
            <a:ext cx="30603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alqama.hasnain@tatasteel.com</a:t>
            </a:r>
            <a:endParaRPr/>
          </a:p>
        </p:txBody>
      </p:sp>
      <p:pic>
        <p:nvPicPr>
          <p:cNvPr id="141" name="Google Shape;14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53750" y="285750"/>
            <a:ext cx="762000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ile:Tata Steel Logo.svg - Wikimedia Commons" id="142" name="Google Shape;142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500" y="714450"/>
            <a:ext cx="1941760" cy="25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60775" y="1673376"/>
            <a:ext cx="670450" cy="670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8" name="Google Shape;14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9" name="Google Shape;149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2828925"/>
            <a:ext cx="5143500" cy="2114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0" name="Google Shape;1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2828925"/>
            <a:ext cx="5143500" cy="211455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6"/>
          <p:cNvSpPr txBox="1"/>
          <p:nvPr/>
        </p:nvSpPr>
        <p:spPr>
          <a:xfrm>
            <a:off x="762000" y="571500"/>
            <a:ext cx="5880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002D6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PROBLEM STATEMENT</a:t>
            </a:r>
            <a:endParaRPr sz="2800"/>
          </a:p>
        </p:txBody>
      </p:sp>
      <p:sp>
        <p:nvSpPr>
          <p:cNvPr id="152" name="Google Shape;152;p26"/>
          <p:cNvSpPr txBox="1"/>
          <p:nvPr/>
        </p:nvSpPr>
        <p:spPr>
          <a:xfrm>
            <a:off x="1152525" y="3219450"/>
            <a:ext cx="4580572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High Error Susceptibility</a:t>
            </a:r>
            <a:endParaRPr/>
          </a:p>
        </p:txBody>
      </p:sp>
      <p:sp>
        <p:nvSpPr>
          <p:cNvPr id="153" name="Google Shape;153;p26"/>
          <p:cNvSpPr txBox="1"/>
          <p:nvPr/>
        </p:nvSpPr>
        <p:spPr>
          <a:xfrm>
            <a:off x="1152525" y="3638550"/>
            <a:ext cx="43626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Manual checking of dates daily is prone to oversight. Busy schedules and cognitive load </a:t>
            </a:r>
            <a:r>
              <a:rPr lang="en-US" sz="1500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may </a:t>
            </a:r>
            <a:r>
              <a:rPr b="0" i="0" lang="en-US" sz="15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lead to missed validity milestones.</a:t>
            </a:r>
            <a:endParaRPr/>
          </a:p>
        </p:txBody>
      </p:sp>
      <p:sp>
        <p:nvSpPr>
          <p:cNvPr id="154" name="Google Shape;154;p26"/>
          <p:cNvSpPr txBox="1"/>
          <p:nvPr/>
        </p:nvSpPr>
        <p:spPr>
          <a:xfrm>
            <a:off x="6677025" y="3219450"/>
            <a:ext cx="4580572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Reactive Response</a:t>
            </a:r>
            <a:endParaRPr/>
          </a:p>
        </p:txBody>
      </p:sp>
      <p:sp>
        <p:nvSpPr>
          <p:cNvPr id="155" name="Google Shape;155;p26"/>
          <p:cNvSpPr txBox="1"/>
          <p:nvPr/>
        </p:nvSpPr>
        <p:spPr>
          <a:xfrm>
            <a:off x="6677025" y="3638550"/>
            <a:ext cx="43626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If the expiration is </a:t>
            </a:r>
            <a:r>
              <a:rPr b="0" i="0" lang="en-US" sz="15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 identified after the deadline has passed, </a:t>
            </a:r>
            <a:r>
              <a:rPr lang="en-US" sz="1500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there would </a:t>
            </a:r>
            <a:r>
              <a:rPr b="0" i="0" lang="en-US" sz="15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operational delays and grounding of equipment.</a:t>
            </a:r>
            <a:endParaRPr/>
          </a:p>
        </p:txBody>
      </p:sp>
      <p:sp>
        <p:nvSpPr>
          <p:cNvPr id="156" name="Google Shape;156;p26"/>
          <p:cNvSpPr/>
          <p:nvPr/>
        </p:nvSpPr>
        <p:spPr>
          <a:xfrm>
            <a:off x="762000" y="1085850"/>
            <a:ext cx="4026900" cy="84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1" name="Google Shape;16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7"/>
          <p:cNvSpPr txBox="1"/>
          <p:nvPr/>
        </p:nvSpPr>
        <p:spPr>
          <a:xfrm>
            <a:off x="762000" y="571500"/>
            <a:ext cx="5030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002D6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PROBLEM STATEMENT</a:t>
            </a:r>
            <a:endParaRPr sz="2800"/>
          </a:p>
        </p:txBody>
      </p:sp>
      <p:sp>
        <p:nvSpPr>
          <p:cNvPr id="163" name="Google Shape;163;p27"/>
          <p:cNvSpPr/>
          <p:nvPr/>
        </p:nvSpPr>
        <p:spPr>
          <a:xfrm>
            <a:off x="762000" y="1085850"/>
            <a:ext cx="4026900" cy="84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7"/>
          <p:cNvSpPr txBox="1"/>
          <p:nvPr/>
        </p:nvSpPr>
        <p:spPr>
          <a:xfrm>
            <a:off x="762000" y="3009900"/>
            <a:ext cx="51435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100%</a:t>
            </a:r>
            <a:endParaRPr/>
          </a:p>
        </p:txBody>
      </p:sp>
      <p:sp>
        <p:nvSpPr>
          <p:cNvPr id="165" name="Google Shape;165;p27"/>
          <p:cNvSpPr txBox="1"/>
          <p:nvPr/>
        </p:nvSpPr>
        <p:spPr>
          <a:xfrm>
            <a:off x="762000" y="4555073"/>
            <a:ext cx="5143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05A2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HUMAN RELIANCE</a:t>
            </a:r>
            <a:endParaRPr/>
          </a:p>
        </p:txBody>
      </p:sp>
      <p:sp>
        <p:nvSpPr>
          <p:cNvPr id="166" name="Google Shape;166;p27"/>
          <p:cNvSpPr txBox="1"/>
          <p:nvPr/>
        </p:nvSpPr>
        <p:spPr>
          <a:xfrm>
            <a:off x="6286500" y="2509837"/>
            <a:ext cx="5400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The Compliance Gap</a:t>
            </a:r>
            <a:endParaRPr sz="3000"/>
          </a:p>
        </p:txBody>
      </p:sp>
      <p:sp>
        <p:nvSpPr>
          <p:cNvPr id="167" name="Google Shape;167;p27"/>
          <p:cNvSpPr txBox="1"/>
          <p:nvPr/>
        </p:nvSpPr>
        <p:spPr>
          <a:xfrm>
            <a:off x="6286500" y="3205162"/>
            <a:ext cx="5143500" cy="20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Without automated intervention, the integrity of </a:t>
            </a:r>
            <a:r>
              <a:rPr lang="en-US" sz="1800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C</a:t>
            </a:r>
            <a:r>
              <a:rPr b="0" i="0" lang="en-US" sz="18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rane </a:t>
            </a:r>
            <a:r>
              <a:rPr lang="en-US" sz="1800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G</a:t>
            </a:r>
            <a:r>
              <a:rPr b="0" i="0" lang="en-US" sz="18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atepass and </a:t>
            </a:r>
            <a:r>
              <a:rPr lang="en-US" sz="1800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b="0" i="0" lang="en-US" sz="18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afety </a:t>
            </a:r>
            <a:r>
              <a:rPr lang="en-US" sz="1800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C</a:t>
            </a:r>
            <a:r>
              <a:rPr b="0" i="0" lang="en-US" sz="18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hecks rests solely on administrative bandwidth. </a:t>
            </a:r>
            <a:br>
              <a:rPr b="0" i="0" lang="en-US" sz="18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0" i="0" lang="en-US" sz="18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This introduces a single point of failure in site safety protocols.</a:t>
            </a:r>
            <a:endParaRPr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 txBox="1"/>
          <p:nvPr/>
        </p:nvSpPr>
        <p:spPr>
          <a:xfrm>
            <a:off x="762000" y="571500"/>
            <a:ext cx="6530700" cy="461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000">
                <a:solidFill>
                  <a:srgbClr val="002D6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SOLUTION</a:t>
            </a:r>
            <a:endParaRPr b="0" sz="3000">
              <a:solidFill>
                <a:srgbClr val="002D6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73" name="Google Shape;173;p28"/>
          <p:cNvSpPr/>
          <p:nvPr/>
        </p:nvSpPr>
        <p:spPr>
          <a:xfrm>
            <a:off x="762000" y="1085850"/>
            <a:ext cx="4026900" cy="192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8"/>
          <p:cNvSpPr txBox="1"/>
          <p:nvPr/>
        </p:nvSpPr>
        <p:spPr>
          <a:xfrm>
            <a:off x="762000" y="1428750"/>
            <a:ext cx="10668000" cy="738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Automated Notification System for </a:t>
            </a:r>
            <a:br>
              <a:rPr b="0" lang="en-US" sz="2400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0" lang="en-US" sz="2400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Crane Gatepass &amp; Safetycheck Expiration Alerts</a:t>
            </a:r>
            <a:endParaRPr b="0" sz="2400">
              <a:solidFill>
                <a:srgbClr val="002D6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5" name="Google Shape;175;p28"/>
          <p:cNvSpPr/>
          <p:nvPr/>
        </p:nvSpPr>
        <p:spPr>
          <a:xfrm>
            <a:off x="762000" y="2667000"/>
            <a:ext cx="3429000" cy="3238500"/>
          </a:xfrm>
          <a:prstGeom prst="roundRect">
            <a:avLst>
              <a:gd fmla="val 35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76" name="Google Shape;176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95500" y="300990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8"/>
          <p:cNvSpPr txBox="1"/>
          <p:nvPr/>
        </p:nvSpPr>
        <p:spPr>
          <a:xfrm>
            <a:off x="952500" y="3800475"/>
            <a:ext cx="3048000" cy="323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Cloud Logic</a:t>
            </a:r>
            <a:endParaRPr b="1" sz="2100">
              <a:solidFill>
                <a:srgbClr val="002D6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8" name="Google Shape;178;p28"/>
          <p:cNvSpPr txBox="1"/>
          <p:nvPr/>
        </p:nvSpPr>
        <p:spPr>
          <a:xfrm>
            <a:off x="952500" y="4533900"/>
            <a:ext cx="30480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Program runs daily on cloud triggers, removing local dependenc</a:t>
            </a:r>
            <a:r>
              <a:rPr lang="en-US" sz="18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b="0" lang="en-US" sz="18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sz="18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9" name="Google Shape;179;p28"/>
          <p:cNvSpPr/>
          <p:nvPr/>
        </p:nvSpPr>
        <p:spPr>
          <a:xfrm>
            <a:off x="4381500" y="2667000"/>
            <a:ext cx="3429000" cy="3238500"/>
          </a:xfrm>
          <a:prstGeom prst="roundRect">
            <a:avLst>
              <a:gd fmla="val 35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0" name="Google Shape;180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0" y="300990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8"/>
          <p:cNvSpPr txBox="1"/>
          <p:nvPr/>
        </p:nvSpPr>
        <p:spPr>
          <a:xfrm>
            <a:off x="4572000" y="3800475"/>
            <a:ext cx="3048000" cy="323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Proactive Monitoring</a:t>
            </a:r>
            <a:endParaRPr b="1" sz="2100">
              <a:solidFill>
                <a:srgbClr val="002D6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2" name="Google Shape;182;p28"/>
          <p:cNvSpPr txBox="1"/>
          <p:nvPr/>
        </p:nvSpPr>
        <p:spPr>
          <a:xfrm>
            <a:off x="4572000" y="4533900"/>
            <a:ext cx="30480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Advance warnings enable proactive renewal of Safety Checks and Gatepass.</a:t>
            </a:r>
            <a:endParaRPr b="0" sz="18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3" name="Google Shape;183;p28"/>
          <p:cNvSpPr/>
          <p:nvPr/>
        </p:nvSpPr>
        <p:spPr>
          <a:xfrm>
            <a:off x="8001000" y="2667000"/>
            <a:ext cx="3429000" cy="3238500"/>
          </a:xfrm>
          <a:prstGeom prst="roundRect">
            <a:avLst>
              <a:gd fmla="val 35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4" name="Google Shape;184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334500" y="300990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/>
          <p:nvPr/>
        </p:nvSpPr>
        <p:spPr>
          <a:xfrm>
            <a:off x="8191500" y="3800475"/>
            <a:ext cx="3048000" cy="323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Centralized Data</a:t>
            </a:r>
            <a:endParaRPr b="1" sz="2100">
              <a:solidFill>
                <a:srgbClr val="002D6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6" name="Google Shape;186;p28"/>
          <p:cNvSpPr txBox="1"/>
          <p:nvPr/>
        </p:nvSpPr>
        <p:spPr>
          <a:xfrm>
            <a:off x="8191500" y="4533900"/>
            <a:ext cx="30480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Dynamic link between spreadsheets and </a:t>
            </a:r>
            <a:r>
              <a:rPr b="0" lang="en-US" sz="18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r>
              <a:rPr b="0" lang="en-US" sz="18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otification payloads.</a:t>
            </a:r>
            <a:endParaRPr b="0" sz="18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1" name="Google Shape;191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1981200"/>
            <a:ext cx="50482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9"/>
          <p:cNvSpPr txBox="1"/>
          <p:nvPr/>
        </p:nvSpPr>
        <p:spPr>
          <a:xfrm>
            <a:off x="762000" y="571500"/>
            <a:ext cx="6182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002D6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INTEGRATION ARCHITECTURE</a:t>
            </a:r>
            <a:endParaRPr sz="3000"/>
          </a:p>
        </p:txBody>
      </p:sp>
      <p:sp>
        <p:nvSpPr>
          <p:cNvPr id="194" name="Google Shape;194;p29"/>
          <p:cNvSpPr/>
          <p:nvPr/>
        </p:nvSpPr>
        <p:spPr>
          <a:xfrm>
            <a:off x="762000" y="1085850"/>
            <a:ext cx="5324400" cy="192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9"/>
          <p:cNvSpPr txBox="1"/>
          <p:nvPr/>
        </p:nvSpPr>
        <p:spPr>
          <a:xfrm>
            <a:off x="762000" y="1556276"/>
            <a:ext cx="5300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System Workflow</a:t>
            </a:r>
            <a:endParaRPr sz="2800"/>
          </a:p>
        </p:txBody>
      </p:sp>
      <p:sp>
        <p:nvSpPr>
          <p:cNvPr id="196" name="Google Shape;196;p29"/>
          <p:cNvSpPr txBox="1"/>
          <p:nvPr/>
        </p:nvSpPr>
        <p:spPr>
          <a:xfrm>
            <a:off x="762000" y="2347912"/>
            <a:ext cx="5048400" cy="16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By linking </a:t>
            </a:r>
            <a:r>
              <a:rPr b="1" i="0" lang="en-US" sz="19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Micro</a:t>
            </a:r>
            <a:r>
              <a:rPr b="1" lang="en-US" sz="1900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soft</a:t>
            </a:r>
            <a:r>
              <a:rPr b="1" i="0" lang="en-US" sz="19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 Excel</a:t>
            </a:r>
            <a:r>
              <a:rPr b="0" i="0" lang="en-US" sz="19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 with </a:t>
            </a:r>
            <a:r>
              <a:rPr b="1" i="0" lang="en-US" sz="19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Power Automate</a:t>
            </a:r>
            <a:r>
              <a:rPr b="0" i="0" lang="en-US" sz="19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 (or Google Sheets with AppScript), we created a self-sustaining loop.</a:t>
            </a:r>
            <a:endParaRPr sz="1900"/>
          </a:p>
        </p:txBody>
      </p:sp>
      <p:sp>
        <p:nvSpPr>
          <p:cNvPr id="197" name="Google Shape;197;p29"/>
          <p:cNvSpPr txBox="1"/>
          <p:nvPr/>
        </p:nvSpPr>
        <p:spPr>
          <a:xfrm>
            <a:off x="762000" y="4310062"/>
            <a:ext cx="5048400" cy="16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The system evaluates dates daily and triggers personalized emails based on a defined recipient list within the same excel </a:t>
            </a:r>
            <a:r>
              <a:rPr lang="en-US" sz="1900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sheet</a:t>
            </a:r>
            <a:r>
              <a:rPr b="0" i="0" lang="en-US" sz="19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900"/>
          </a:p>
        </p:txBody>
      </p:sp>
      <p:pic>
        <p:nvPicPr>
          <p:cNvPr descr="image.png" id="198" name="Google Shape;198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34311" y="2181225"/>
            <a:ext cx="4542978" cy="3409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3" name="Google Shape;20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30"/>
          <p:cNvSpPr txBox="1"/>
          <p:nvPr/>
        </p:nvSpPr>
        <p:spPr>
          <a:xfrm>
            <a:off x="762000" y="571500"/>
            <a:ext cx="4426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002D6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DATA FRAMEWORK</a:t>
            </a:r>
            <a:endParaRPr sz="3000"/>
          </a:p>
        </p:txBody>
      </p:sp>
      <p:sp>
        <p:nvSpPr>
          <p:cNvPr id="205" name="Google Shape;205;p30"/>
          <p:cNvSpPr/>
          <p:nvPr/>
        </p:nvSpPr>
        <p:spPr>
          <a:xfrm>
            <a:off x="762000" y="1085850"/>
            <a:ext cx="3381375" cy="1905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6" name="Google Shape;206;p30"/>
          <p:cNvGraphicFramePr/>
          <p:nvPr/>
        </p:nvGraphicFramePr>
        <p:xfrm>
          <a:off x="762000" y="27479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{63E71EDB-8FEA-407E-AA62-1749095DD9C7}</a:tableStyleId>
              </a:tblPr>
              <a:tblGrid>
                <a:gridCol w="1969150"/>
                <a:gridCol w="1982250"/>
                <a:gridCol w="2243125"/>
                <a:gridCol w="1930000"/>
                <a:gridCol w="2543475"/>
              </a:tblGrid>
              <a:tr h="493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VEHICLE </a:t>
                      </a:r>
                      <a:br>
                        <a:rPr lang="en-US" sz="12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</a:br>
                      <a:r>
                        <a:rPr lang="en-US" sz="12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NAME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2D6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REGISTRATION </a:t>
                      </a:r>
                      <a:br>
                        <a:rPr lang="en-US" sz="12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</a:br>
                      <a:r>
                        <a:rPr lang="en-US" sz="12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NUMBER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2D6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GATE PASS </a:t>
                      </a:r>
                      <a:br>
                        <a:rPr lang="en-US" sz="12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</a:br>
                      <a:r>
                        <a:rPr lang="en-US" sz="12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VALIDITY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2D6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SAFETY CHECK VALIDITY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2D6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NOTIFICATION </a:t>
                      </a:r>
                      <a:br>
                        <a:rPr lang="en-US" sz="12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</a:br>
                      <a:r>
                        <a:rPr lang="en-US" sz="120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STATUS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2D62"/>
                    </a:solidFill>
                  </a:tcPr>
                </a:tc>
              </a:tr>
              <a:tr h="493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450T Crane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MH46CR-1192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04/28/2026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03/13/2027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Monitoring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3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350T-1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OD34Y-9927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04/21/2026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03/10/2027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Alert Triggered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  <a:tr h="493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Trailer Unit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JH05EH-4547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06/20/2026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Monitoring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3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80T-1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GJ15SV-2323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04/29/2026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09/19/2027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1A1A1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Pending Warning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207" name="Google Shape;207;p30"/>
          <p:cNvSpPr/>
          <p:nvPr/>
        </p:nvSpPr>
        <p:spPr>
          <a:xfrm>
            <a:off x="762000" y="3714750"/>
            <a:ext cx="1969144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0"/>
          <p:cNvSpPr/>
          <p:nvPr/>
        </p:nvSpPr>
        <p:spPr>
          <a:xfrm>
            <a:off x="2731144" y="3714750"/>
            <a:ext cx="1982241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0"/>
          <p:cNvSpPr/>
          <p:nvPr/>
        </p:nvSpPr>
        <p:spPr>
          <a:xfrm>
            <a:off x="4713386" y="3714750"/>
            <a:ext cx="2243137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30"/>
          <p:cNvSpPr/>
          <p:nvPr/>
        </p:nvSpPr>
        <p:spPr>
          <a:xfrm>
            <a:off x="6956524" y="3714750"/>
            <a:ext cx="1930003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30"/>
          <p:cNvSpPr/>
          <p:nvPr/>
        </p:nvSpPr>
        <p:spPr>
          <a:xfrm>
            <a:off x="8886527" y="3714750"/>
            <a:ext cx="2543472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30"/>
          <p:cNvSpPr/>
          <p:nvPr/>
        </p:nvSpPr>
        <p:spPr>
          <a:xfrm>
            <a:off x="762000" y="4210050"/>
            <a:ext cx="1969144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30"/>
          <p:cNvSpPr/>
          <p:nvPr/>
        </p:nvSpPr>
        <p:spPr>
          <a:xfrm>
            <a:off x="2731144" y="4210050"/>
            <a:ext cx="1982241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0"/>
          <p:cNvSpPr/>
          <p:nvPr/>
        </p:nvSpPr>
        <p:spPr>
          <a:xfrm>
            <a:off x="4713386" y="4210050"/>
            <a:ext cx="2243137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0"/>
          <p:cNvSpPr/>
          <p:nvPr/>
        </p:nvSpPr>
        <p:spPr>
          <a:xfrm>
            <a:off x="6956524" y="4210050"/>
            <a:ext cx="1930003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0"/>
          <p:cNvSpPr/>
          <p:nvPr/>
        </p:nvSpPr>
        <p:spPr>
          <a:xfrm>
            <a:off x="8886527" y="4210050"/>
            <a:ext cx="2543472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30"/>
          <p:cNvSpPr/>
          <p:nvPr/>
        </p:nvSpPr>
        <p:spPr>
          <a:xfrm>
            <a:off x="762000" y="4705350"/>
            <a:ext cx="1969144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30"/>
          <p:cNvSpPr/>
          <p:nvPr/>
        </p:nvSpPr>
        <p:spPr>
          <a:xfrm>
            <a:off x="2731144" y="4705350"/>
            <a:ext cx="1982241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30"/>
          <p:cNvSpPr/>
          <p:nvPr/>
        </p:nvSpPr>
        <p:spPr>
          <a:xfrm>
            <a:off x="4713386" y="4705350"/>
            <a:ext cx="2243137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30"/>
          <p:cNvSpPr/>
          <p:nvPr/>
        </p:nvSpPr>
        <p:spPr>
          <a:xfrm>
            <a:off x="6956524" y="4705350"/>
            <a:ext cx="1930003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30"/>
          <p:cNvSpPr/>
          <p:nvPr/>
        </p:nvSpPr>
        <p:spPr>
          <a:xfrm>
            <a:off x="8886527" y="4705350"/>
            <a:ext cx="2543472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30"/>
          <p:cNvSpPr/>
          <p:nvPr/>
        </p:nvSpPr>
        <p:spPr>
          <a:xfrm>
            <a:off x="762000" y="5200650"/>
            <a:ext cx="1969144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30"/>
          <p:cNvSpPr/>
          <p:nvPr/>
        </p:nvSpPr>
        <p:spPr>
          <a:xfrm>
            <a:off x="2731144" y="5200650"/>
            <a:ext cx="1982241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0"/>
          <p:cNvSpPr/>
          <p:nvPr/>
        </p:nvSpPr>
        <p:spPr>
          <a:xfrm>
            <a:off x="4713386" y="5200650"/>
            <a:ext cx="2243137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0"/>
          <p:cNvSpPr/>
          <p:nvPr/>
        </p:nvSpPr>
        <p:spPr>
          <a:xfrm>
            <a:off x="6956524" y="5200650"/>
            <a:ext cx="1930003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0"/>
          <p:cNvSpPr/>
          <p:nvPr/>
        </p:nvSpPr>
        <p:spPr>
          <a:xfrm>
            <a:off x="8886527" y="5200650"/>
            <a:ext cx="2543472" cy="9525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1" name="Google Shape;231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2" name="Google Shape;232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2828925"/>
            <a:ext cx="5143500" cy="2114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3" name="Google Shape;233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828925"/>
            <a:ext cx="5143500" cy="211455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31"/>
          <p:cNvSpPr txBox="1"/>
          <p:nvPr/>
        </p:nvSpPr>
        <p:spPr>
          <a:xfrm>
            <a:off x="762000" y="571500"/>
            <a:ext cx="6280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002D6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NOTIFICATION LOGIC</a:t>
            </a:r>
            <a:endParaRPr sz="3000"/>
          </a:p>
        </p:txBody>
      </p:sp>
      <p:sp>
        <p:nvSpPr>
          <p:cNvPr id="235" name="Google Shape;235;p31"/>
          <p:cNvSpPr/>
          <p:nvPr/>
        </p:nvSpPr>
        <p:spPr>
          <a:xfrm>
            <a:off x="762000" y="1085850"/>
            <a:ext cx="5981700" cy="1905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31"/>
          <p:cNvSpPr txBox="1"/>
          <p:nvPr/>
        </p:nvSpPr>
        <p:spPr>
          <a:xfrm>
            <a:off x="1219200" y="3219450"/>
            <a:ext cx="451056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Stage 1: Warning</a:t>
            </a:r>
            <a:endParaRPr/>
          </a:p>
        </p:txBody>
      </p:sp>
      <p:sp>
        <p:nvSpPr>
          <p:cNvPr id="237" name="Google Shape;237;p31"/>
          <p:cNvSpPr txBox="1"/>
          <p:nvPr/>
        </p:nvSpPr>
        <p:spPr>
          <a:xfrm>
            <a:off x="1219200" y="3638550"/>
            <a:ext cx="42957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Notifications are triggered </a:t>
            </a:r>
            <a:r>
              <a:rPr b="1" i="0" lang="en-US" sz="15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7 days prior</a:t>
            </a:r>
            <a:r>
              <a:rPr b="0" i="0" lang="en-US" sz="15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 to expiration. This provides a lead-time buffer for physical inspections and documentation prep.</a:t>
            </a:r>
            <a:endParaRPr/>
          </a:p>
        </p:txBody>
      </p:sp>
      <p:sp>
        <p:nvSpPr>
          <p:cNvPr id="238" name="Google Shape;238;p31"/>
          <p:cNvSpPr txBox="1"/>
          <p:nvPr/>
        </p:nvSpPr>
        <p:spPr>
          <a:xfrm>
            <a:off x="6743700" y="3219450"/>
            <a:ext cx="451056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rPr>
              <a:t>Stage 2: Critical</a:t>
            </a:r>
            <a:endParaRPr/>
          </a:p>
        </p:txBody>
      </p:sp>
      <p:sp>
        <p:nvSpPr>
          <p:cNvPr id="239" name="Google Shape;239;p31"/>
          <p:cNvSpPr txBox="1"/>
          <p:nvPr/>
        </p:nvSpPr>
        <p:spPr>
          <a:xfrm>
            <a:off x="6743700" y="3638550"/>
            <a:ext cx="42957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rPr>
              <a:t>Immediate escalations are sent if dates have already expired, ensuring assets are not utilized in a non-compliant state.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4" name="Google Shape;244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32"/>
          <p:cNvSpPr txBox="1"/>
          <p:nvPr/>
        </p:nvSpPr>
        <p:spPr>
          <a:xfrm>
            <a:off x="762000" y="571500"/>
            <a:ext cx="5180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>
                <a:solidFill>
                  <a:srgbClr val="002D6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IMPACT</a:t>
            </a:r>
            <a:endParaRPr sz="3400"/>
          </a:p>
        </p:txBody>
      </p:sp>
      <p:sp>
        <p:nvSpPr>
          <p:cNvPr id="246" name="Google Shape;246;p32"/>
          <p:cNvSpPr/>
          <p:nvPr/>
        </p:nvSpPr>
        <p:spPr>
          <a:xfrm>
            <a:off x="762000" y="1085850"/>
            <a:ext cx="4934100" cy="19200"/>
          </a:xfrm>
          <a:prstGeom prst="rect">
            <a:avLst/>
          </a:prstGeom>
          <a:solidFill>
            <a:srgbClr val="002D6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7" name="Google Shape;247;p32"/>
          <p:cNvGrpSpPr/>
          <p:nvPr/>
        </p:nvGrpSpPr>
        <p:grpSpPr>
          <a:xfrm>
            <a:off x="762000" y="1981319"/>
            <a:ext cx="10668150" cy="3648685"/>
            <a:chOff x="762000" y="1524000"/>
            <a:chExt cx="10668150" cy="4191000"/>
          </a:xfrm>
        </p:grpSpPr>
        <p:sp>
          <p:nvSpPr>
            <p:cNvPr id="248" name="Google Shape;248;p32"/>
            <p:cNvSpPr/>
            <p:nvPr/>
          </p:nvSpPr>
          <p:spPr>
            <a:xfrm>
              <a:off x="762000" y="1524000"/>
              <a:ext cx="50484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32"/>
            <p:cNvSpPr txBox="1"/>
            <p:nvPr/>
          </p:nvSpPr>
          <p:spPr>
            <a:xfrm>
              <a:off x="1047750" y="1762125"/>
              <a:ext cx="44769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100">
                  <a:solidFill>
                    <a:srgbClr val="002D62"/>
                  </a:solidFill>
                  <a:latin typeface="Inter"/>
                  <a:ea typeface="Inter"/>
                  <a:cs typeface="Inter"/>
                  <a:sym typeface="Inter"/>
                </a:rPr>
                <a:t>Zero Human Error</a:t>
              </a:r>
              <a:endParaRPr b="1" sz="2100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54595F"/>
                  </a:solidFill>
                  <a:latin typeface="Inter"/>
                  <a:ea typeface="Inter"/>
                  <a:cs typeface="Inter"/>
                  <a:sym typeface="Inter"/>
                </a:rPr>
                <a:t>C</a:t>
              </a:r>
              <a:r>
                <a:rPr b="0" lang="en-US" sz="1600">
                  <a:solidFill>
                    <a:srgbClr val="54595F"/>
                  </a:solidFill>
                  <a:latin typeface="Inter"/>
                  <a:ea typeface="Inter"/>
                  <a:cs typeface="Inter"/>
                  <a:sym typeface="Inter"/>
                </a:rPr>
                <a:t>loud triggers ensure no expiration date is ever overlooked.</a:t>
              </a:r>
              <a:endParaRPr b="0" sz="1600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0" name="Google Shape;250;p32"/>
            <p:cNvSpPr/>
            <p:nvPr/>
          </p:nvSpPr>
          <p:spPr>
            <a:xfrm>
              <a:off x="6381750" y="1524000"/>
              <a:ext cx="50484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32"/>
            <p:cNvSpPr txBox="1"/>
            <p:nvPr/>
          </p:nvSpPr>
          <p:spPr>
            <a:xfrm>
              <a:off x="6667500" y="1762125"/>
              <a:ext cx="44769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100">
                  <a:solidFill>
                    <a:srgbClr val="002D62"/>
                  </a:solidFill>
                  <a:latin typeface="Inter"/>
                  <a:ea typeface="Inter"/>
                  <a:cs typeface="Inter"/>
                  <a:sym typeface="Inter"/>
                </a:rPr>
                <a:t>Proactive Maintenance</a:t>
              </a:r>
              <a:endParaRPr b="1" sz="2100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54595F"/>
                  </a:solidFill>
                  <a:latin typeface="Inter"/>
                  <a:ea typeface="Inter"/>
                  <a:cs typeface="Inter"/>
                  <a:sym typeface="Inter"/>
                </a:rPr>
                <a:t>7-day windows enable teams to schedule safety checks without disrupting operations.</a:t>
              </a:r>
              <a:endParaRPr b="0" sz="1600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2" name="Google Shape;252;p32"/>
            <p:cNvSpPr/>
            <p:nvPr/>
          </p:nvSpPr>
          <p:spPr>
            <a:xfrm>
              <a:off x="762000" y="3810000"/>
              <a:ext cx="50484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32"/>
            <p:cNvSpPr txBox="1"/>
            <p:nvPr/>
          </p:nvSpPr>
          <p:spPr>
            <a:xfrm>
              <a:off x="1047750" y="4048125"/>
              <a:ext cx="44769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100">
                  <a:solidFill>
                    <a:srgbClr val="002D62"/>
                  </a:solidFill>
                  <a:latin typeface="Inter"/>
                  <a:ea typeface="Inter"/>
                  <a:cs typeface="Inter"/>
                  <a:sym typeface="Inter"/>
                </a:rPr>
                <a:t>Resource Optimization</a:t>
              </a:r>
              <a:endParaRPr b="1" sz="2100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54595F"/>
                  </a:solidFill>
                  <a:latin typeface="Inter"/>
                  <a:ea typeface="Inter"/>
                  <a:cs typeface="Inter"/>
                  <a:sym typeface="Inter"/>
                </a:rPr>
                <a:t>Administrative staff are freed from manual auditing, reallocating hours to high-value tasks.</a:t>
              </a:r>
              <a:endParaRPr b="0" sz="1600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4" name="Google Shape;254;p32"/>
            <p:cNvSpPr/>
            <p:nvPr/>
          </p:nvSpPr>
          <p:spPr>
            <a:xfrm>
              <a:off x="6381750" y="3810000"/>
              <a:ext cx="50484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32"/>
            <p:cNvSpPr txBox="1"/>
            <p:nvPr/>
          </p:nvSpPr>
          <p:spPr>
            <a:xfrm>
              <a:off x="6667500" y="4048125"/>
              <a:ext cx="44769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100">
                  <a:solidFill>
                    <a:srgbClr val="002D62"/>
                  </a:solidFill>
                  <a:latin typeface="Inter"/>
                  <a:ea typeface="Inter"/>
                  <a:cs typeface="Inter"/>
                  <a:sym typeface="Inter"/>
                </a:rPr>
                <a:t>Audit Readiness</a:t>
              </a:r>
              <a:endParaRPr b="1" sz="2100">
                <a:solidFill>
                  <a:srgbClr val="002D6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54595F"/>
                  </a:solidFill>
                  <a:latin typeface="Inter"/>
                  <a:ea typeface="Inter"/>
                  <a:cs typeface="Inter"/>
                  <a:sym typeface="Inter"/>
                </a:rPr>
                <a:t>Centralized, updated logs provide instant verification for site safety audits.</a:t>
              </a:r>
              <a:endParaRPr b="0" sz="1600">
                <a:solidFill>
                  <a:srgbClr val="54595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6" name="Google Shape;256;p32"/>
            <p:cNvSpPr/>
            <p:nvPr/>
          </p:nvSpPr>
          <p:spPr>
            <a:xfrm>
              <a:off x="762000" y="1524000"/>
              <a:ext cx="57300" cy="1905000"/>
            </a:xfrm>
            <a:prstGeom prst="roundRect">
              <a:avLst>
                <a:gd fmla="val 50000" name="adj"/>
              </a:avLst>
            </a:prstGeom>
            <a:solidFill>
              <a:srgbClr val="F05A2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32"/>
            <p:cNvSpPr/>
            <p:nvPr/>
          </p:nvSpPr>
          <p:spPr>
            <a:xfrm>
              <a:off x="6381750" y="1524000"/>
              <a:ext cx="57300" cy="1905000"/>
            </a:xfrm>
            <a:prstGeom prst="roundRect">
              <a:avLst>
                <a:gd fmla="val 50000" name="adj"/>
              </a:avLst>
            </a:prstGeom>
            <a:solidFill>
              <a:srgbClr val="F05A2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32"/>
            <p:cNvSpPr/>
            <p:nvPr/>
          </p:nvSpPr>
          <p:spPr>
            <a:xfrm>
              <a:off x="762000" y="3810000"/>
              <a:ext cx="57300" cy="1905000"/>
            </a:xfrm>
            <a:prstGeom prst="roundRect">
              <a:avLst>
                <a:gd fmla="val 50000" name="adj"/>
              </a:avLst>
            </a:prstGeom>
            <a:solidFill>
              <a:srgbClr val="F05A2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" name="Google Shape;259;p32"/>
            <p:cNvSpPr/>
            <p:nvPr/>
          </p:nvSpPr>
          <p:spPr>
            <a:xfrm>
              <a:off x="6381750" y="3810000"/>
              <a:ext cx="57300" cy="1905000"/>
            </a:xfrm>
            <a:prstGeom prst="roundRect">
              <a:avLst>
                <a:gd fmla="val 50000" name="adj"/>
              </a:avLst>
            </a:prstGeom>
            <a:solidFill>
              <a:srgbClr val="F05A2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4" name="Google Shape;26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33"/>
          <p:cNvSpPr txBox="1"/>
          <p:nvPr/>
        </p:nvSpPr>
        <p:spPr>
          <a:xfrm>
            <a:off x="295200" y="2967305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THANK</a:t>
            </a:r>
            <a:r>
              <a:rPr lang="en-US" sz="6000">
                <a:solidFill>
                  <a:srgbClr val="DEFF9A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YOU</a:t>
            </a:r>
            <a:endParaRPr>
              <a:solidFill>
                <a:srgbClr val="DEFF9A"/>
              </a:solidFill>
            </a:endParaRPr>
          </a:p>
        </p:txBody>
      </p:sp>
      <p:pic>
        <p:nvPicPr>
          <p:cNvPr id="266" name="Google Shape;266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53750" y="285750"/>
            <a:ext cx="762000" cy="42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